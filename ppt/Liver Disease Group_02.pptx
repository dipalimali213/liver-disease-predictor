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61" r:id="rId5"/>
    <p:sldId id="265" r:id="rId6"/>
    <p:sldId id="266" r:id="rId7"/>
    <p:sldId id="281" r:id="rId8"/>
    <p:sldId id="282" r:id="rId9"/>
    <p:sldId id="284" r:id="rId10"/>
    <p:sldId id="285" r:id="rId11"/>
    <p:sldId id="276" r:id="rId12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660"/>
  </p:normalViewPr>
  <p:slideViewPr>
    <p:cSldViewPr snapToGrid="0">
      <p:cViewPr varScale="1">
        <p:scale>
          <a:sx n="69" d="100"/>
          <a:sy n="69" d="100"/>
        </p:scale>
        <p:origin x="58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63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54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56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8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2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2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50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9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2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0FB9A-A01F-4D0B-B92B-B4BF3E327EAE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6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97165" y="402818"/>
            <a:ext cx="10318616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dirty="0" smtClean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Project Stage - III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      </a:t>
            </a:r>
            <a:endParaRPr kumimoji="0" lang="en-US" sz="2800" b="1" i="0" u="none" strike="noStrike" cap="none" normalizeH="0" baseline="0" dirty="0">
              <a:ln>
                <a:noFill/>
              </a:ln>
              <a:solidFill>
                <a:srgbClr val="993300"/>
              </a:solidFill>
              <a:effectLst/>
              <a:latin typeface="Cambria" panose="02040503050406030204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             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      “A Comparative Analysis of Machine </a:t>
            </a: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Learing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    			Algorithms for Early Prediction of Liver</a:t>
            </a:r>
            <a:r>
              <a:rPr kumimoji="0" lang="en-US" sz="2800" b="1" i="0" u="none" strike="noStrike" cap="none" normalizeH="0" dirty="0" smtClean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 Disease</a:t>
            </a:r>
            <a:r>
              <a:rPr kumimoji="0" lang="en-IN" sz="2400" b="1" i="0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”</a:t>
            </a:r>
            <a:endParaRPr lang="en-US" sz="2800" b="1" dirty="0">
              <a:solidFill>
                <a:srgbClr val="993300"/>
              </a:solidFill>
              <a:latin typeface="Cambria" panose="02040503050406030204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                                                     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By</a:t>
            </a:r>
          </a:p>
          <a:p>
            <a:pPr algn="ctr"/>
            <a:r>
              <a:rPr lang="en-US" sz="1600" b="1" dirty="0">
                <a:latin typeface="Cambria" panose="02040503050406030204" pitchFamily="18" charset="0"/>
                <a:ea typeface="Times New Roman" panose="02020603050405020304" pitchFamily="18" charset="0"/>
              </a:rPr>
              <a:t>                        </a:t>
            </a:r>
            <a:r>
              <a:rPr lang="en-US" sz="1600" b="1" dirty="0" smtClean="0">
                <a:latin typeface="Cambria" panose="02040503050406030204" pitchFamily="18" charset="0"/>
                <a:ea typeface="Times New Roman" panose="02020603050405020304" pitchFamily="18" charset="0"/>
              </a:rPr>
              <a:t>  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1.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Sonawane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Harshada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Ravindra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rgbClr val="800000"/>
                </a:solidFill>
                <a:latin typeface="Cambria" panose="02040503050406030204" pitchFamily="18" charset="0"/>
              </a:rPr>
              <a:t>(221106021, 23)</a:t>
            </a:r>
            <a:endParaRPr lang="en-US" sz="1600" dirty="0" smtClean="0">
              <a:solidFill>
                <a:srgbClr val="800000"/>
              </a:solidFill>
              <a:latin typeface="Cambria" panose="02040503050406030204" pitchFamily="18" charset="0"/>
            </a:endParaRPr>
          </a:p>
          <a:p>
            <a:pPr algn="ctr"/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2.</a:t>
            </a:r>
            <a:r>
              <a:rPr lang="en-US" sz="1600" dirty="0" smtClean="0">
                <a:solidFill>
                  <a:srgbClr val="800000"/>
                </a:solidFill>
                <a:latin typeface="Cambria" panose="02040503050406030204" pitchFamily="18" charset="0"/>
              </a:rPr>
              <a:t> </a:t>
            </a:r>
            <a:r>
              <a:rPr lang="en-US" sz="1600" dirty="0" err="1" smtClean="0">
                <a:solidFill>
                  <a:srgbClr val="800000"/>
                </a:solidFill>
                <a:latin typeface="Cambria" panose="02040503050406030204" pitchFamily="18" charset="0"/>
              </a:rPr>
              <a:t>Malil</a:t>
            </a:r>
            <a:r>
              <a:rPr lang="en-US" sz="1600" dirty="0" smtClean="0">
                <a:solidFill>
                  <a:srgbClr val="800000"/>
                </a:solidFill>
                <a:latin typeface="Cambria" panose="02040503050406030204" pitchFamily="18" charset="0"/>
              </a:rPr>
              <a:t> </a:t>
            </a:r>
            <a:r>
              <a:rPr lang="en-US" sz="1600" dirty="0" err="1" smtClean="0">
                <a:solidFill>
                  <a:srgbClr val="800000"/>
                </a:solidFill>
                <a:latin typeface="Cambria" panose="02040503050406030204" pitchFamily="18" charset="0"/>
              </a:rPr>
              <a:t>Dipali</a:t>
            </a:r>
            <a:r>
              <a:rPr lang="en-US" sz="1600" dirty="0" smtClean="0">
                <a:solidFill>
                  <a:srgbClr val="800000"/>
                </a:solidFill>
                <a:latin typeface="Cambria" panose="02040503050406030204" pitchFamily="18" charset="0"/>
              </a:rPr>
              <a:t> </a:t>
            </a:r>
            <a:r>
              <a:rPr lang="en-US" sz="1600" dirty="0" smtClean="0">
                <a:solidFill>
                  <a:srgbClr val="800000"/>
                </a:solidFill>
                <a:latin typeface="Cambria" panose="02040503050406030204" pitchFamily="18" charset="0"/>
              </a:rPr>
              <a:t>Vilas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(</a:t>
            </a:r>
            <a:r>
              <a:rPr lang="en-US" sz="1600" dirty="0" smtClean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221106055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smtClean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55</a:t>
            </a:r>
            <a:r>
              <a:rPr lang="en-US" sz="1600" dirty="0" smtClean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)</a:t>
            </a:r>
            <a:endParaRPr lang="en-US" sz="1600" dirty="0" smtClean="0">
              <a:solidFill>
                <a:srgbClr val="800000"/>
              </a:solidFill>
              <a:latin typeface="Cambria" panose="02040503050406030204" pitchFamily="18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               3. </a:t>
            </a:r>
            <a:r>
              <a:rPr lang="en-US" sz="1600" dirty="0" err="1" smtClean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Narkhede</a:t>
            </a:r>
            <a:r>
              <a:rPr lang="en-US" sz="1600" dirty="0" smtClean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Sanjana</a:t>
            </a:r>
            <a:r>
              <a:rPr lang="en-US" sz="1600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Nitin (231206003, 64</a:t>
            </a:r>
            <a:r>
              <a:rPr lang="en-US" sz="1600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)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800000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800000"/>
                </a:solidFill>
                <a:latin typeface="Cambria" panose="02040503050406030204" pitchFamily="18" charset="0"/>
              </a:rPr>
              <a:t>   </a:t>
            </a:r>
            <a:endParaRPr lang="en-US" sz="1050" dirty="0"/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>
                <a:latin typeface="Cambria" panose="02040503050406030204" pitchFamily="18" charset="0"/>
              </a:rPr>
              <a:t> Prof. Dr. </a:t>
            </a:r>
            <a:r>
              <a:rPr lang="en-US" sz="1600" b="1" dirty="0" smtClean="0">
                <a:latin typeface="Cambria" panose="02040503050406030204" pitchFamily="18" charset="0"/>
              </a:rPr>
              <a:t>P. S. </a:t>
            </a:r>
            <a:r>
              <a:rPr lang="en-US" sz="1600" b="1" dirty="0" err="1" smtClean="0">
                <a:latin typeface="Cambria" panose="02040503050406030204" pitchFamily="18" charset="0"/>
              </a:rPr>
              <a:t>Sanjekar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                                 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Picture 1" descr="SES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101" y="3565040"/>
            <a:ext cx="2624776" cy="1845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675727" y="5391958"/>
            <a:ext cx="7567841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cs typeface="Arial" panose="020B0604020202020204" pitchFamily="34" charset="0"/>
              </a:rPr>
              <a:t>Department of </a:t>
            </a: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Computer Science and Engineering(Data Science)</a:t>
            </a:r>
            <a:endParaRPr kumimoji="0" lang="en-US" sz="2200" b="1" i="0" u="none" strike="noStrike" cap="none" normalizeH="0" baseline="0" dirty="0">
              <a:ln>
                <a:noFill/>
              </a:ln>
              <a:solidFill>
                <a:srgbClr val="993300"/>
              </a:solidFill>
              <a:effectLst/>
              <a:latin typeface="Ajile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 Shirpur Education Society’s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R. C. Patel Institute of Technology, Shirpur - 425405.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[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2025-26]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Parallelogram 6"/>
          <p:cNvSpPr/>
          <p:nvPr/>
        </p:nvSpPr>
        <p:spPr>
          <a:xfrm flipV="1">
            <a:off x="99607" y="35628"/>
            <a:ext cx="11887694" cy="245216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>
            <a:off x="99607" y="6585690"/>
            <a:ext cx="11887693" cy="272310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1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6021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Hardware Requirement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293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34107" y="8242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6C075B89-C4F6-1E39-30AC-C0763750F99F}"/>
              </a:ext>
            </a:extLst>
          </p:cNvPr>
          <p:cNvSpPr txBox="1">
            <a:spLocks/>
          </p:cNvSpPr>
          <p:nvPr/>
        </p:nvSpPr>
        <p:spPr>
          <a:xfrm>
            <a:off x="916295" y="526688"/>
            <a:ext cx="12116308" cy="492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0117382-A892-24B4-DF8E-6E2B5F172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930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4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55132" y="1009833"/>
            <a:ext cx="10481109" cy="538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Liver disease is a major health problem worldwide, increasing due to factors like excessive alcohol consumption, unhealthy lifestyle, contaminated food, and exposure to harmful chemicals.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liver diseases do not show symptoms in the early stages, making timely diagnosis difficult and increasing the risk of severe complications.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and prediction of liver disease can help in better treatment planning and improve patient survival rates.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diagnostic methods require medical expertise, time, and sometimes expensive tests, which may delay the diagnosis process. </a:t>
            </a:r>
          </a:p>
        </p:txBody>
      </p:sp>
    </p:spTree>
    <p:extLst>
      <p:ext uri="{BB962C8B-B14F-4D97-AF65-F5344CB8AC3E}">
        <p14:creationId xmlns:p14="http://schemas.microsoft.com/office/powerpoint/2010/main" val="244158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092" y="1559550"/>
            <a:ext cx="10365290" cy="458062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5969504-E846-2C8E-BD1E-A5C96683D19B}"/>
              </a:ext>
            </a:extLst>
          </p:cNvPr>
          <p:cNvSpPr txBox="1"/>
          <p:nvPr/>
        </p:nvSpPr>
        <p:spPr>
          <a:xfrm>
            <a:off x="1262610" y="375327"/>
            <a:ext cx="63057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/>
          </a:p>
        </p:txBody>
      </p:sp>
      <p:sp>
        <p:nvSpPr>
          <p:cNvPr id="15" name="TextBox 14"/>
          <p:cNvSpPr txBox="1"/>
          <p:nvPr/>
        </p:nvSpPr>
        <p:spPr>
          <a:xfrm>
            <a:off x="1176950" y="1739118"/>
            <a:ext cx="99713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liver disease at an early stage using patient medical data for timely treatment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algorithms to provide accurate and reliable disease prediction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parameters and identify patterns related to liver disease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 doctors in making faster and better clinical decisions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easy-to-use system for quick and efficient prediction.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76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793174" y="32222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0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28966" y="551766"/>
            <a:ext cx="10844644" cy="59973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0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1100" dirty="0" smtClean="0"/>
          </a:p>
          <a:p>
            <a:endParaRPr lang="en-US" sz="1100" dirty="0" smtClean="0"/>
          </a:p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39480FF-4E81-BF5D-24C6-4C5330A0B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C704C53-5C5D-35A4-7028-9A05EF372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6950" y="1204115"/>
            <a:ext cx="889461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Liver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prediction is critical for early diagnosis and reducing mortality.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Machine Learning algorithms like SVM, Logistic Regression, Decision Tree, Random Forest, and ANN are widely used.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show SVM achieves high accuracy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(~75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%) compared to Logistic Regression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(~73%)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Decision Tree (~79%).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and ensemble models provide better performance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improved robustness.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27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1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176950" y="1153101"/>
            <a:ext cx="7218905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(cleaning &amp; formatting)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of important parameters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Splitting data into training and testing sets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Applying Machine Learning algorithms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the models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Evaluating performance using metrics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Comparing algorithms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prediction using best model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3219" y="554182"/>
            <a:ext cx="3816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84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522514"/>
            <a:ext cx="10515600" cy="5941986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Computer/Laptop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development and running applications.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Storage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16 GB RAM and SSD storage recommended.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Internet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downloading libraries, datasets, and cloud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marL="514350" indent="-51435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Programming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3.x</a:t>
            </a:r>
          </a:p>
          <a:p>
            <a:pPr marL="514350" indent="-51435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IDE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Code 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Notebook.</a:t>
            </a:r>
          </a:p>
          <a:p>
            <a:pPr marL="514350" indent="-51435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Machine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and Frameworks: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Flask,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Pandas,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Operating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GB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28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2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791441" y="1365587"/>
            <a:ext cx="10522527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583 patient records, including 416 liver disease patients and 167 non-liver patients.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collected from the North-East region of Andhra Pradesh, India.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includes 441 male and 142 female patient records.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with age greater than 89 are recorded as 90 years for consistency.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labeled using a "Dataset" column, which classifies patients into liver disease or non-disease categories.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0050" y="581766"/>
            <a:ext cx="3417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Study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95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070465"/>
              </p:ext>
            </p:extLst>
          </p:nvPr>
        </p:nvGraphicFramePr>
        <p:xfrm>
          <a:off x="1691064" y="1348096"/>
          <a:ext cx="9433792" cy="49220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617372">
                  <a:extLst>
                    <a:ext uri="{9D8B030D-6E8A-4147-A177-3AD203B41FA5}">
                      <a16:colId xmlns:a16="http://schemas.microsoft.com/office/drawing/2014/main" val="2950633656"/>
                    </a:ext>
                  </a:extLst>
                </a:gridCol>
                <a:gridCol w="4816420">
                  <a:extLst>
                    <a:ext uri="{9D8B030D-6E8A-4147-A177-3AD203B41FA5}">
                      <a16:colId xmlns:a16="http://schemas.microsoft.com/office/drawing/2014/main" val="15509941"/>
                    </a:ext>
                  </a:extLst>
                </a:gridCol>
              </a:tblGrid>
              <a:tr h="330522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6001108"/>
                  </a:ext>
                </a:extLst>
              </a:tr>
              <a:tr h="40702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 of the patient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2445935"/>
                  </a:ext>
                </a:extLst>
              </a:tr>
              <a:tr h="40702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 or Female</a:t>
                      </a:r>
                      <a:endParaRPr lang="en-IN"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407109"/>
                  </a:ext>
                </a:extLst>
              </a:tr>
              <a:tr h="56362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Bilirubin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Indicates liver </a:t>
                      </a:r>
                      <a:r>
                        <a:rPr lang="en-GB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  <a:endParaRPr lang="en-GB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047190"/>
                  </a:ext>
                </a:extLst>
              </a:tr>
              <a:tr h="6039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 Bilirubin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bile/liver issues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758589"/>
                  </a:ext>
                </a:extLst>
              </a:tr>
              <a:tr h="57472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Alkaline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Phosphotase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Enzyme indicating </a:t>
                      </a:r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liver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304275"/>
                  </a:ext>
                </a:extLst>
              </a:tr>
              <a:tr h="40702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 (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Alamine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Aminotransferase)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levels indicate liver damage</a:t>
                      </a:r>
                      <a:endParaRPr lang="en-GB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604502"/>
                  </a:ext>
                </a:extLst>
              </a:tr>
              <a:tr h="40702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AST (Aspartate Aminotransferase)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Indicates liver or organ damage</a:t>
                      </a:r>
                      <a:endParaRPr lang="en-GB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542393"/>
                  </a:ext>
                </a:extLst>
              </a:tr>
              <a:tr h="40702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Proteins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protein level in blood</a:t>
                      </a:r>
                      <a:endParaRPr lang="en-GB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24357"/>
                  </a:ext>
                </a:extLst>
              </a:tr>
              <a:tr h="407029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Albumin</a:t>
                      </a:r>
                      <a:endParaRPr lang="en-IN"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Protein made by liver (low = issue)</a:t>
                      </a:r>
                      <a:endParaRPr lang="en-GB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764268"/>
                  </a:ext>
                </a:extLst>
              </a:tr>
              <a:tr h="407029">
                <a:tc>
                  <a:txBody>
                    <a:bodyPr/>
                    <a:lstStyle/>
                    <a:p>
                      <a:pPr algn="ctr"/>
                      <a:r>
                        <a:rPr lang="en-IN" sz="20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Albumin and Globulin Ratio</a:t>
                      </a:r>
                      <a:endParaRPr lang="en-IN" sz="20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 of proteins in blood</a:t>
                      </a:r>
                      <a:endParaRPr lang="en-GB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169" marR="13169" marT="6585" marB="65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856888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454358" y="404950"/>
            <a:ext cx="3417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Study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052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522514"/>
            <a:ext cx="10515600" cy="1611086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76950" y="1719063"/>
            <a:ext cx="9897449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that machine learning can be used for early prediction of liver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disease. It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identifying the most accurate algorithm through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comparison. The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supports doctors in faster and better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decision-making. Overall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improves diagnosis and patient care.</a:t>
            </a:r>
          </a:p>
        </p:txBody>
      </p:sp>
    </p:spTree>
    <p:extLst>
      <p:ext uri="{BB962C8B-B14F-4D97-AF65-F5344CB8AC3E}">
        <p14:creationId xmlns:p14="http://schemas.microsoft.com/office/powerpoint/2010/main" val="114961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AA4260-4C17-DB98-CAA2-FD791A8DF5A2}"/>
              </a:ext>
            </a:extLst>
          </p:cNvPr>
          <p:cNvSpPr txBox="1"/>
          <p:nvPr/>
        </p:nvSpPr>
        <p:spPr>
          <a:xfrm>
            <a:off x="3972561" y="2578882"/>
            <a:ext cx="69195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Thank You !</a:t>
            </a:r>
            <a:endParaRPr lang="en-IN" sz="6600" b="1" dirty="0"/>
          </a:p>
        </p:txBody>
      </p:sp>
    </p:spTree>
    <p:extLst>
      <p:ext uri="{BB962C8B-B14F-4D97-AF65-F5344CB8AC3E}">
        <p14:creationId xmlns:p14="http://schemas.microsoft.com/office/powerpoint/2010/main" val="79797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ML template" id="{A582DF50-CA20-4E39-9F6B-D62AA82E090D}" vid="{64422D4D-F908-4C3E-8895-83C3E8A2D8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AIML template</Template>
  <TotalTime>2775</TotalTime>
  <Words>692</Words>
  <Application>Microsoft Office PowerPoint</Application>
  <PresentationFormat>Widescreen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Ajile</vt:lpstr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Outline </vt:lpstr>
      <vt:lpstr> </vt:lpstr>
      <vt:lpstr> </vt:lpstr>
      <vt:lpstr> </vt:lpstr>
      <vt:lpstr> </vt:lpstr>
      <vt:lpstr> </vt:lpstr>
      <vt:lpstr> </vt:lpstr>
      <vt:lpstr> </vt:lpstr>
      <vt:lpstr>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RCPIT</dc:creator>
  <cp:lastModifiedBy>sanja</cp:lastModifiedBy>
  <cp:revision>40</cp:revision>
  <dcterms:created xsi:type="dcterms:W3CDTF">2023-11-04T09:41:24Z</dcterms:created>
  <dcterms:modified xsi:type="dcterms:W3CDTF">2026-03-30T06:45:41Z</dcterms:modified>
</cp:coreProperties>
</file>